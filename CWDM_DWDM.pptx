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&amp; DWDM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Aallonpituuskanavointiteknologiat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6400800" cy="36576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&amp; Dense Wavelength Division Multiplexing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Janne Kammonen | Keypro Oy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CWDM-tekniikka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CWDM-periaate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Toimintaperiaate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kanavaa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aallonpituusalueella 1270-1610 nm</a:t>
            </a:r>
            <a:pPr indent="0" marL="0">
              <a:lnSpc>
                <a:spcPct val="95000"/>
              </a:lnSpc>
              <a:buNone/>
            </a:pP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Kanavavaali: 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nm</a:t>
            </a:r>
            <a:pPr indent="0" marL="0">
              <a:lnSpc>
                <a:spcPct val="95000"/>
              </a:lnSpc>
              <a:buNone/>
            </a:pP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Passiivinen TFF MUX/DEMUX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(Thin Film Filter)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Standardi: 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ITU-T G.694.2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Kanavarasterit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82880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828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1828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182880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1828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0" y="182880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1828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424160" y="182880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0" y="18288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46888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246888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84CC16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246888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EAB308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78240" y="246888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0" y="246888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424160" y="246888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1042416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10896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310896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BE185D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55280" y="310896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9333EA"/>
          </a:solidFill>
          <a:ln/>
        </p:spPr>
      </p:sp>
      <p:sp>
        <p:nvSpPr>
          <p:cNvPr id="39" name="Text 37"/>
          <p:cNvSpPr/>
          <p:nvPr/>
        </p:nvSpPr>
        <p:spPr>
          <a:xfrm>
            <a:off x="795528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310896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877824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01200" y="310896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6D28D9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424160" y="3108960"/>
            <a:ext cx="731520" cy="502920"/>
          </a:xfrm>
          <a:prstGeom prst="roundRect">
            <a:avLst>
              <a:gd name="adj" fmla="val 9091"/>
            </a:avLst>
          </a:prstGeom>
          <a:solidFill>
            <a:srgbClr val="4F46E5"/>
          </a:solidFill>
          <a:ln/>
        </p:spPr>
      </p:sp>
      <p:sp>
        <p:nvSpPr>
          <p:cNvPr id="45" name="Text 43"/>
          <p:cNvSpPr/>
          <p:nvPr/>
        </p:nvSpPr>
        <p:spPr>
          <a:xfrm>
            <a:off x="1042416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kanavaa  |  20 nm vali  |  1270-1610 nm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393192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A1F2E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 / DEMUX -periaate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31520" y="4526280"/>
            <a:ext cx="10972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4526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 nm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31520" y="4782312"/>
            <a:ext cx="109728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47823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1310 nm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31520" y="5038344"/>
            <a:ext cx="1097280" cy="182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50383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1350 nm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1520" y="5294376"/>
            <a:ext cx="109728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52943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1470 nm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31520" y="5550408"/>
            <a:ext cx="1097280" cy="1828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8" name="Text 56"/>
          <p:cNvSpPr/>
          <p:nvPr/>
        </p:nvSpPr>
        <p:spPr>
          <a:xfrm>
            <a:off x="731520" y="5550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1550 nm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1520" y="5806440"/>
            <a:ext cx="109728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0" name="Text 58"/>
          <p:cNvSpPr/>
          <p:nvPr/>
        </p:nvSpPr>
        <p:spPr>
          <a:xfrm>
            <a:off x="731520" y="58064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1610 nm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0" y="4572000"/>
            <a:ext cx="1097280" cy="1371600"/>
          </a:xfrm>
          <a:prstGeom prst="roundRect">
            <a:avLst>
              <a:gd name="adj" fmla="val 8333"/>
            </a:avLst>
          </a:prstGeom>
          <a:solidFill>
            <a:srgbClr val="2D1B69"/>
          </a:solidFill>
          <a:ln/>
        </p:spPr>
      </p:sp>
      <p:sp>
        <p:nvSpPr>
          <p:cNvPr id="62" name="Text 60"/>
          <p:cNvSpPr/>
          <p:nvPr/>
        </p:nvSpPr>
        <p:spPr>
          <a:xfrm>
            <a:off x="2286000" y="4937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3657600" y="5120640"/>
            <a:ext cx="32004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kuitu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132320" y="4572000"/>
            <a:ext cx="1280160" cy="1371600"/>
          </a:xfrm>
          <a:prstGeom prst="roundRect">
            <a:avLst>
              <a:gd name="adj" fmla="val 7143"/>
            </a:avLst>
          </a:prstGeom>
          <a:solidFill>
            <a:srgbClr val="2D1B69"/>
          </a:solidFill>
          <a:ln/>
        </p:spPr>
      </p:sp>
      <p:sp>
        <p:nvSpPr>
          <p:cNvPr id="66" name="Text 64"/>
          <p:cNvSpPr/>
          <p:nvPr/>
        </p:nvSpPr>
        <p:spPr>
          <a:xfrm>
            <a:off x="7132320" y="4937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DEMUX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8686800" y="4526280"/>
            <a:ext cx="10972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8" name="Text 66"/>
          <p:cNvSpPr/>
          <p:nvPr/>
        </p:nvSpPr>
        <p:spPr>
          <a:xfrm>
            <a:off x="8686800" y="45262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 nm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686800" y="4782312"/>
            <a:ext cx="109728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68"/>
          <p:cNvSpPr/>
          <p:nvPr/>
        </p:nvSpPr>
        <p:spPr>
          <a:xfrm>
            <a:off x="8686800" y="47823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1310 nm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686800" y="5038344"/>
            <a:ext cx="1097280" cy="182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2" name="Text 70"/>
          <p:cNvSpPr/>
          <p:nvPr/>
        </p:nvSpPr>
        <p:spPr>
          <a:xfrm>
            <a:off x="8686800" y="503834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1350 nm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686800" y="5294376"/>
            <a:ext cx="109728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4" name="Text 72"/>
          <p:cNvSpPr/>
          <p:nvPr/>
        </p:nvSpPr>
        <p:spPr>
          <a:xfrm>
            <a:off x="8686800" y="52943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1470 nm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5550408"/>
            <a:ext cx="1097280" cy="1828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76" name="Text 74"/>
          <p:cNvSpPr/>
          <p:nvPr/>
        </p:nvSpPr>
        <p:spPr>
          <a:xfrm>
            <a:off x="8686800" y="5550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1550 nm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686800" y="5806440"/>
            <a:ext cx="109728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8" name="Text 76"/>
          <p:cNvSpPr/>
          <p:nvPr/>
        </p:nvSpPr>
        <p:spPr>
          <a:xfrm>
            <a:off x="8686800" y="58064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1610 nm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CWDM-edut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Kapasiteetti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kuitu = jopa 18 signaalia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Kerrannaistaa kuituresurssit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325880"/>
            <a:ext cx="640080" cy="6400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Edulliset laserit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2103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Jaahdyttamattomat DFB-laserit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~1/3 DWDM-lasereiden hinnasta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0972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13258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20nm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Leveaa toleranssi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103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nm kanavavaali sallii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lammon aiheuttaman siirtyman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Hyvaa kantama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40-80 km ilman vahvistimia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Riittaa metro/access-verkkoon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356616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379476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Passiivinen MUX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389120" y="4572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 sahkoa vaativa laite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Film Filter -tekniikka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356616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37947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5256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Matala OPEX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29600" y="4572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Passiiviset komponentit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 huollettavia vahvistimia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G.652.D-kuituvaatimus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42200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109728" cy="20116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HUOM!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Kaikki 18 CWDM-kanavaa toimivat vain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G.652.D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-kuidussa!</a:t>
            </a:r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Vanhemmissa G.652.A/B -kuiduissa OH-piikki (1383 nm) vaimentaa kanavat 1370-1410 nm.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112471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OH-vaimennuspiikki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solidFill>
            <a:srgbClr val="1B3A2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Kaytettavissa oleva kaista (G.652.D)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4114800"/>
            <a:ext cx="1645920" cy="1097280"/>
          </a:xfrm>
          <a:prstGeom prst="rect">
            <a:avLst/>
          </a:prstGeom>
          <a:solidFill>
            <a:srgbClr val="3B101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41148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OH-piikki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1370-1410 nm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 nm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1610 nm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5486400"/>
          <a:ext cx="9144000" cy="82296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Kuitutyyppi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Kanavat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OH-piikki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G.652.D (low water peak)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kanavaa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Poistettu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G.652.A/B (vanha)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~14 kanavaa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Korkea (&gt;2 dB/km)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vs DWDM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vs DWDM -vertailu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Ominaisuus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CWDM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Kanavavaali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 / 0.4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Kanavat / kuitu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DFB (jaahdyttamaton)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DFB (jaahdytetty, tarkka)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Kantama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40-80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Satoja km (EDFA)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EDFA-vahvistin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 tuettu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Kylla (C/L-band)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MUX-tekniikka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TFF (passiivinen)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AWG / TFF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Hinta / kanava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Edullinen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Kallis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Kaytto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/ metro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Runko / long-haul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Milloin CWDM, milloin DWDM?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53035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Metro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Kuitupula: monta palvelua 1 kuidussa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71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Eta-OLT: P2P-yhteydet kylaan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Yrityspalvelut: erilliset aallonpituudet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Rengasverkot: suojaus + kapasiteetti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892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Metro-yhteydet: alle 80 km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097280"/>
            <a:ext cx="53035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280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DWDM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&amp; Long-haul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242316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Runkoverkko: satoja km EDFA:lla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06324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971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Suuri kapasiteetti: 80-96 kanavaa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70332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Operaattoriyhteydet: 100G+ / kanava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34340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Merikaapelit: submarine-jarjestelmat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498348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892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Datakeskukset: terabit-yhteydet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kaytannossa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0"/>
            <a:ext cx="3657600" cy="54864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Kaytantoesimerkki: CWDM + eta-OLT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1A1F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Tilanne: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Kyla 10 km paassa, runkokaapelissa 12 kuitua, tarve 128 asiakkaalle.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286000"/>
            <a:ext cx="32004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Keskus (CO)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Kytkin lahettaa
</a:t>
            </a:r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x 10G P2P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uplink-yhteydet
</a:t>
            </a:r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MUX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yhdistaa 1 kuitupariin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3566160"/>
            <a:ext cx="1371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kuitu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2286000"/>
            <a:ext cx="3200400" cy="457200"/>
          </a:xfrm>
          <a:prstGeom prst="rect">
            <a:avLst/>
          </a:prstGeom>
          <a:solidFill>
            <a:srgbClr val="1B3A2F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Kyla (FDH)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8346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DEMUX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erottaa 4 kanavaa
</a:t>
            </a:r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Eta-OLT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GPON-porttia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(1490/1310 nm)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0" y="3566160"/>
            <a:ext cx="9144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8320" y="2286000"/>
            <a:ext cx="228600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2286000"/>
            <a:ext cx="2286000" cy="457200"/>
          </a:xfrm>
          <a:prstGeom prst="rect">
            <a:avLst/>
          </a:prstGeom>
          <a:solidFill>
            <a:srgbClr val="1A3048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Asiakkaat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0" y="28346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x 1:32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splitterit
</a:t>
            </a:r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128
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asiakasta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521208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422006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5212080"/>
            <a:ext cx="109728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035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HUOM: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GPON-signaalia EI erotella CWDM-kanaville! GPON kayttaa kiinteita aallonpituuksia (DS 1490 nm, US 1310 nm). </a:t>
            </a:r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kuljettaa P2P-uplinkit, PON toimii paikallisesti vakioaallonpituuksilla.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Haviobudjetti: kaksi erillist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53035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uplink (CWDM)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km, 10G SFP+ (~24 dB budjetti)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MUX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~2.0 dB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 10 km (0.35 dB/km)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~3.5 dB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DEMUX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~2.0 dB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Liitokset (6 kpl)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3703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~1.5 dB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2D1B6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YHTEENSA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~9.0 dB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109728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097280"/>
            <a:ext cx="53035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234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Paikallinen PON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093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 -&gt; splitter -&gt; ONT (&lt;1 km)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219456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1:32 splitter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~17.5 dB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269748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Kuitu &lt;1 km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26880" y="2697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~0.35 dB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320040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Liitokset (2-3 kpl)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26880" y="3200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~0.75 dB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0" y="3703320"/>
            <a:ext cx="4572000" cy="411480"/>
          </a:xfrm>
          <a:prstGeom prst="roundRect">
            <a:avLst>
              <a:gd name="adj" fmla="val 11111"/>
            </a:avLst>
          </a:prstGeom>
          <a:solidFill>
            <a:srgbClr val="1B3A2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YHTEENSA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0" y="3703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~18.6 dB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09360" y="4206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B+ budjetti: 28 dB -&gt; reilusti varaa!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502920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1A1F2E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1206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Avainhuomio: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CWDM-havio (9 dB) pysyy helposti 10G SFP+ -budjetissa (~24 dB). PON-havio lasketaan erikseen lyhyelle paikallismatkalle, jossa standardi GPON B+ (28 dB) riittaa mainiosti.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Bidirektionaalinen CWDM (BiDi)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24712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 P2P -uplinkit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BiDi-SFP kayttaa kahta eri aallonpituutta samassa kuidussa: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 ja RX eri suuntiin WDM-diplex-suotimella.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Esim. 10G BiDi: TX 1270 nm / RX 1330 nm (pari kayttaa kaaanteisesti)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Tuplaa CWDM-kapasiteetin: 1 kuitu, 2 suuntaa, useita kanavia.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4747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Esimerkki: 4 BiDi-uplinkkia yhdella kuidulla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4160520"/>
            <a:ext cx="4114800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2336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1270 nm -&gt;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0" y="4160520"/>
            <a:ext cx="411480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402336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&lt;- 1330 nm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4434840"/>
            <a:ext cx="41148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976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1350 nm -&gt;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0" y="4434840"/>
            <a:ext cx="411480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429768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&lt;- 1410 nm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4709160"/>
            <a:ext cx="4114800" cy="10972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7200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1470 nm -&gt;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0" y="4709160"/>
            <a:ext cx="4114800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457200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&lt;- 1530 nm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4400" y="4983480"/>
            <a:ext cx="4114800" cy="1097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4632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1550 nm -&gt;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0" y="4983480"/>
            <a:ext cx="411480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84632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&lt;- 1610 nm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548640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5778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toimii aina vakioaallonpituuksilla: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1490 nm / US 1310 nm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(paikallisesti OLT:n ja ONT:n valilla, ei CWDM-verkossa)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Kustannusvertailu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3035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CWDM-ratkaisu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4-kanavainen MUX + DEMUX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2 000 - 5 000 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x BiDi SFP+ (10G)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800 - 2 000 EUR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Eta-OLT (kompakti)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3 000 - 8 000 EUR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457200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YHTEENSA: ~6 000 - 15 000 EUR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188720"/>
            <a:ext cx="53035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Uusi kaapeli (vaihtoehto)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Kaivuutyot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15 000 - 40 000 EUR/km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Kaapeli + asennus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5 000 - 15 000 EUR/km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Luvat + suunnittelu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2 000 - 10 000 EUR/km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520440"/>
            <a:ext cx="457200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km: ~220 000 - 650 000 EUR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1B3A2F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4206240"/>
            <a:ext cx="109728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976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Saasto: 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saastaa tyypillisesti </a:t>
            </a:r>
            <a:pPr indent="0" marL="0">
              <a:buNone/>
            </a:pPr>
            <a:r>
              <a:rPr lang="en-US" sz="2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90-97%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verrattuna uuden kaapelin rakentamiseen.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365760" y="57607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A1F2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06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Milloin CWDM ei kannata?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 vapaat kuidut riittavat, suora kytkenta on yksinkertaisempi ja halvempi.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Paatospuu: teknologiavalinta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109728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2D1B6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1097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Jaettu vai dedikoitu yhteys?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Jaettu -&gt; GPON / XGS-PON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219456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2194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Dedikoitu -&gt; P2P (10G/1G)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1828800"/>
            <a:ext cx="54864" cy="36576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828800"/>
            <a:ext cx="54864" cy="36576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1828800"/>
            <a:ext cx="7772400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783080"/>
            <a:ext cx="54864" cy="13716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2918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A1F2E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291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Tarvitaanko eta-OLT?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0" y="2926080"/>
            <a:ext cx="54864" cy="36576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32918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A1F2E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3291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Vapaita kuituja?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84080" y="2926080"/>
            <a:ext cx="54864" cy="36576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43891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B3A2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389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Kylla -&gt;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kuljettaa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P2P-uplinkit eta-OLT:lle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 paikallisesti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4023360"/>
            <a:ext cx="54864" cy="36576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0" y="43891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B3A2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4389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Kylla
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kytkenta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9680" y="4023360"/>
            <a:ext cx="54864" cy="36576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7" name="Shape 25"/>
          <p:cNvSpPr/>
          <p:nvPr/>
        </p:nvSpPr>
        <p:spPr>
          <a:xfrm>
            <a:off x="9875520" y="438912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D1B69"/>
          </a:solidFill>
          <a:ln/>
        </p:spPr>
      </p:sp>
      <p:sp>
        <p:nvSpPr>
          <p:cNvPr id="28" name="Text 26"/>
          <p:cNvSpPr/>
          <p:nvPr/>
        </p:nvSpPr>
        <p:spPr>
          <a:xfrm>
            <a:off x="9875520" y="4389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
</a:t>
            </a:r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kanavointi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98480" y="4023360"/>
            <a:ext cx="54864" cy="36576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57607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A1F2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06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Muista: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on aina P2P-uplink-ratkaisu, ei korvaa PON-splittausta. PON toimii vakioaallonpituuksilla.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Yhteenveto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188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moninkertaistaa kuitukapasiteetin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459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kanavaa, 20 nm vali, passiivinen MUX/DEMUX. Sopii access- ja metro-verkkoon jossa kuituja rajallisesti.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 kuljettaa P2P-uplinkit, ei PON-signaaleja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017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GPON kayttaa kiinteita aallonpituuksia (1490/1310 nm). CWDM-kanavilla siirretaan uplink-dataa eta-OLT:lle.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3931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Kustannustehokas vaihtoehto uudelle kaapelille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389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CWDM-laitteisto ~6 000-15 000 EUR vs. kaapelin kaivuu 220 000-650 000 EUR / 10 km. Saasto 90-97%.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52120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4406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63040" y="5303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DWDM runkoverkkoihin, CWDM liityntaan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7607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DWDM: 80-96 kanavaa, EDFA, satoja km. CWDM: edullisempi, riittaa kun kapasiteettitarve on kohtuullinen.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2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Janne Kammonen | Keypro Oy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CWDM &amp; DWDM - Aallonpituuskanavointiteknologiat</dc:title>
  <dc:subject>PptxGenJS Presentation</dc:subject>
  <dc:creator>Janne Kammonen</dc:creator>
  <cp:lastModifiedBy>Janne Kammonen</cp:lastModifiedBy>
  <cp:revision>1</cp:revision>
  <dcterms:created xsi:type="dcterms:W3CDTF">2026-03-22T21:27:23Z</dcterms:created>
  <dcterms:modified xsi:type="dcterms:W3CDTF">2026-03-22T21:27:23Z</dcterms:modified>
</cp:coreProperties>
</file>