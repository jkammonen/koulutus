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Kuituverkon perusteet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Valokuidusta PON-verkkoon — koulutuspaketti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840480"/>
            <a:ext cx="8229600" cy="2743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4023360"/>
            <a:ext cx="64008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4206240"/>
            <a:ext cx="457200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Janne Kammonen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 I: Valon fysiikka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Valo, aallonpituus ja kokonaisheijastus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Mitä valo 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2120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Sähkömagneettinen säteily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 on sähkömagneettista säteilyä, joka etenee aaltoliikkeenä. Näkyvä valo on vain pieni osa EM-spektriä.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Tietoliikennekuidussa käytetään infrapuna-aluetta: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850 nm — monimoodi, lyhyet välit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1310 nm — yksimoodi, upstream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1490 nm — yksimoodi, downstream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1550 nm — pitkät välit, CATV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1625 nm — monitorointi (OTDR)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097280"/>
            <a:ext cx="539496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207008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Miksi infrapuna?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Lasin vaimennus on pienimmillaan 1260–1625 nm alueella.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Vaimennusminimi: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~0.20 dB/km @ 1550 nm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~0.35 dB/km @ 1310 nm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Näkyvällä valolla vaimennus olisi &gt;10 dB/km — ei käyttökelpoinen.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109728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4114800"/>
            <a:ext cx="10972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4114800"/>
            <a:ext cx="109728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4114800"/>
            <a:ext cx="109728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4114800"/>
            <a:ext cx="1097280" cy="45720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109728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4114800"/>
            <a:ext cx="10972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95360" y="4114800"/>
            <a:ext cx="228600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INFRAPUNA (telecom)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 nm                                                         780 nm                  850–1625 nm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= sähkömagneettinen, nm = nanometri (10⁻⁹ 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 (λ)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 = λ (lambda)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Mitataan nanometreinä (nm). Yksi nanometri = 0.000001 mm.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 aallonpituuksilla on eri ominaisuudet: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Eri vaimennus, eri dispersio, eri käyttötarkoitus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52120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207008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 on kuin radiokanava: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Yksi kuitu voi kuljettaa useita λ samanaikaisesti (WDM).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Jokainen λ on itsenäinen datakanava.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74720"/>
          <a:ext cx="10424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Aallonpituus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Käyttö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Vaimennus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Monimoodi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LAN, datakeskus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~2.5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 upstream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~0.35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S-band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 downstream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~0.25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C-band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Pitkät välit, DWDM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~0.20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lambda, kreikkalainen kirjain aallonpituudelle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 kuidussa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3566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Kokonaisheijastus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 etenee kuidussa kokonaisheijastuksen avulla.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Ydin (core) = korkeampi taitekerroin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Kuori (cladding) = matalampi taitekerroin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 "pomppii" ytimen ja kuoren rajapinnalla eikä pääse ulos.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097280"/>
            <a:ext cx="347472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207008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Yksimoodi (SM)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Ydin: 9 µm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Kuori: 125 µm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 valopolku → ei moodidispersiota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Pitkät välit (jopa 100+ km)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Käytössä käytännössä kaikissa FTTH-verkoissa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097280"/>
            <a:ext cx="3383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207008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Monimoodi (MM)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Ydin: 50 tai 62.5 µm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Kuori: 125 µm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valopolkua → dispersio rajoittaa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Lyhyet välit (max ~550 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Käyttö: datakeskukset, LAN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9/125 µm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FTTH-verkon standardi. Kaikki PON-teknologiat käyttävät yksimoodikuitua.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= Single-Mode, MM = Multi-Mode, µm = mikrometri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 II: Kuituverkko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Rakenneosat, kuitutyypit ja liittimet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Aallonpituusikkunat (Bands)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1945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Alue (nm)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Vaimennus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Käyttö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1260–1360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~0.35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GPON/XGS-PON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1360–1460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Vesihuippu!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Vältetään (OH⁻)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1460–1530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~0.25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 DS (1490)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1530–1565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~0.20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XGS-PON DS, DWDM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1565–1625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~0.22 dB/km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CWDM, OTDR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3657600"/>
            <a:ext cx="49377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767328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Vesihuippu (OH⁻)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E-bandin kohdalla (~1383 nm) vaimennus nousee voimakkaasti hydroksyyli-ionien vuoksi.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 G.652.D-kuitu on "low water peak" ja mahdollistaa E-bandin käytön.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3657600"/>
            <a:ext cx="5760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3657600"/>
            <a:ext cx="56692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3767328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Vaimennuskäyrän muoto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Paras: C-band ~0.20 dB/km (1550 nm)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Hyvä: L-band ~0.22 dB/km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OK: O-band ~0.35 dB/km (1310 nm)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Huono: 850 nm ~2.5 dB/km (monimoodi)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OH⁻ = hydroksyyli-ioni, OTDR = Optical Time Domain Reflectometer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Kuituverkon rakenneosat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01752" y="1051560"/>
            <a:ext cx="1728216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Line Terminal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Keskuslaite, operaattori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267712" y="1051560"/>
            <a:ext cx="172821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3172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Distribution Frame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Kuitujen ristikytkentä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33672" y="1051560"/>
            <a:ext cx="1728216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Distribution Hub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Jakokaappi (ulko)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051560"/>
            <a:ext cx="1728216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FDT/FAT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Distribution/Access Terminal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Talohaarikkeet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8165592" y="1051560"/>
            <a:ext cx="172821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Network Terminal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Asiakaspääte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04120" y="1051560"/>
            <a:ext cx="17830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31552" y="1051560"/>
            <a:ext cx="1728216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56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95560" y="155448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Passiivinen jakaja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 (N=2–64)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1161288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2004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200400"/>
            <a:ext cx="356616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310128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Kaapelit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Runkokaapeli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48–288 kuitua, kanavistossa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Jakelukaapeli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12–48 kuitua, alueverkko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Talokaapeli (drop)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1–4 kuitua, asiakkaalle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06240" y="32004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251960" y="3200400"/>
            <a:ext cx="3566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3310128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Kanavisto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Mikroputki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5/3.5–14/10 mm, kaapelien suojaus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Suojaputki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40–110 mm, sisältää mikroputket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Puhallustekniikka: kaapeli puhalletaan mikroputkeen paineilmalla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38160" y="32004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8183880" y="3200400"/>
            <a:ext cx="35661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3310128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→ ODF → Runko → FDH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FDH → Jakelu → FDT/FAT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FDT/FAT → Drop → ONT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Splitterit sijoitetaan yleensä FDH:n tai FDT:n yhteyteen.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Kuitutyypit (ITU-T suositukset)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Tyyppi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Min. taivutussäde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Käyttökohde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Huomiot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G.652.D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Runko- ja jakeluverkko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 SM-kuitu, low water 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G.657.A1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Taloverkko, sisäjohdotus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Yhteensopiva G.652.D kanssa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G.657.A2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Ahdas sisäasennus, MDU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Paras taivutuskesto, yhteensopiva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3017520"/>
            <a:ext cx="52120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127248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Taivutussäde käytännössä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Liian pieni taivutussäde = vaimennus kasvaa!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G.652.D: sopii kanavistoon ja jakokaappeihin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G.657.A1: sopii talojakamoon ja nousuun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G.657.A2: sopii ahtaisiin nurkkiin, MDU-asennuksiin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Kaikki G.657-kuidut ovat yhteensopivia G.652.D kanssa → voidaan jatkaa samaan verkkoon.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301752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6080760" y="3017520"/>
            <a:ext cx="539496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3127248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Valintaohje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Runkoverkko: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G.652.D — edullisin, riittävä taivutus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Jakeluverkko: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G.652.D tai G.657.A1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+ sisäverkko: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G.657.A1 tai A2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Kuituliittimet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3566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SC/APC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Vihreä liitin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Angled Physical Contact (8° kulma)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Paluuvaimennus: ≥65 dB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PON-verkon standardi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Heijastus ohjautuu pois kuidun akselilta → paras WDM-yhteensopivuus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097280"/>
            <a:ext cx="3566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207008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SC/UPC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Sininen liitin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 Physical Contact (suora)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Paluuvaimennus: ≥50 dB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Dataverkot, mittalaitteet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PON-verkkoon — heijastukset häiritsevät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097280"/>
            <a:ext cx="3383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207008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Pieni liitin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Lucent Connector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Puolet SC:n koosta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OLT, aktiivilaitteet, SFP-moduulit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Saatavana APC ja UPC versioina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931920"/>
            <a:ext cx="111556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41648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Puhdistus on kriittistä!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Likainen liitin = heijastuksia + vaimennusta. Puhdista AINA ennen kytkentää.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Työkalut: kuivapuhdistin (IBC, Cletop), isopropanoli + nukkaamaton liina, tarkastusmikroskooppi (200–400x).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= Angled Physical Contact, UPC = Ultra Physical Contact, RL = Return Loss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Laserturvallisuus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3949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PON-laitteet: Class 1 / 1M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1: Turvallinen kaikissa olosuhteissa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1M: Turvallinen paljaalle silmälle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OLT, ONT ja SFP-moduulit ovat Class 1 tai 1M.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ÄLÄ koskaan katso kuidun päähän optisilla laitteilla!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52120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207008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VFL: Class 2 / 3R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Fault Locator = näkyvä punainen laser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2: &lt; 1 mW, silmän sulkurefleksi suojaa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3R: 1–5 mW, vaatii varovaisuutta!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Käytä aina suojalaseja Class 3R kanssa.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749040"/>
            <a:ext cx="111556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58768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Turvallisuusmerkinnät ja käytännöt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Kaikissa laserlaitteissa oltava luokkamerkintä (IEC 60825-1)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Älä koskaan katso suoraan kuidun päähän — käytä tehomittaria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Suojaa avoimet liittimet aina tulpilla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Kuitukatkokset ja puhtaat päät eivät tarkoita "turvallista" — mittaa ensin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 III: PON ja suunnittelu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Arkkitehtuurit, häviöbudjetti ja yhteiselo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PON-arkkitehtuurit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463040"/>
                <a:gridCol w="1463040"/>
                <a:gridCol w="2011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/ 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λ (nm)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λ (nm)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Budjetti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/ 1.25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B+ 28, C+ 32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XGS-PON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/ 10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29, N2 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G.9807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25GS-PON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/ 25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G.9806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50G-PON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/ 50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G.9804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P2P (ei PON)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1–100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1310/1550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1310/1550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Linkki-koht.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832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338328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3493008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 = Passive Optical Network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aktiivisia laitteita OLT:n ja ONT:n välillä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 kuitu jaetaan splittereillä (1:32 tai 1:64)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Passiivisuus = ei sähköä, ei huoltoa kentällä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on yleisin, XGS-PON yleistyy nopeasti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338328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6080760" y="3383280"/>
            <a:ext cx="548640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3493008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vs PON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P2P: Oma kuitu jokaiselle asiakkaalle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Paras suorituskyky, ei jakoa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Kallis (paljon kuituja ja portteja)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PON: Jaettu kuitu, jaettu kaistanleveys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Edullinen, vähemmän kuituja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Kaista jaetaan käyttäjien kesken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GPON-signalointi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(1490 nm)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Broadcast-periaate: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lähettää kaiken kaikille ONT:ille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Jokainen ONT lukee vain omat kehyksensä (GEM Port ID)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Salaus: AES-128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Koska kaikki ONT:t näkevät kaiken datan, downstream on AES-128-salattu.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Nopeus: 2.488 Gbps jaettu kaikille ONT:ille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52120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207008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(1310 nm)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TDMA Burst-lähetys: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ONT:t lähettävät vuorotellen aikaväleissä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jakaa aikavälit DBA-algoritmilla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= Dynamic Bandwidth Allocation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Aktiiviset ONT:t saavat enemmän kaistaa, hiljaiset vähemmän.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Nopeus: 1.244 Gbps jaettu kaikille ONT:ille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4114800"/>
            <a:ext cx="111556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24528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Aikajakoperiaate (TDMA)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ONT1 [====]                ONT2 [====]                ONT3 [====]                ONT1 [====] 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Ranging-prosessi synkronoi ONT:iden etäisyydet. Guard time estää päällekkäisyydet.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Häviöbudjetti (Loss Budget)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61288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Häviökomponentit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Kuituvaimennus: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DS: 0.30 dB/km @ 1490 nm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US: 0.35 dB/km @ 1310 nm (määräävä!)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Liitokset: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Liittimet: 0.2–0.3 dB / kpl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Hitsausjatkokset: 0.05–0.1 dB / kpl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Mek. jatkokset: 0.1–0.3 dB / kpl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05156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37160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Jakosuhde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Häviö (dB)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Jakosuhde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Häviö (dB)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2423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Splitterin häviöt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Luokka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häviö (dB)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Tyypillinen käyttö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 (GPON)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Perus GPON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 (GPON)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Pitkät välit, 1:64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(XGS)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ACC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XGS-PON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Perus XGS-PON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(XGS)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XGS-PON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Extended reach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Häviöbudjetti = OLT:n ja ONT:n välisen optisen reitin kokonaishäviö. US 1310 nm on määräävä (suurempi vaimennus).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Splitteritopologiat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3566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Tähti / Puu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 splitter FDH:ssa jakaa kaikille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Yksinkertainen, helppo hallita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Tyypillisesti 1:32 tai 1:64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Yleisin topologia FTTH:ssa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097280"/>
            <a:ext cx="356616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207008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Ketju (Daisy-chain)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Splitterit peräkkäin reitillä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Jokaisessa pisteessä osa valosta haaroitetaan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Sopii: tie- ja rautatiereittien varsille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Haaste: epätasainen tehojakauma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097280"/>
            <a:ext cx="3383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207008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Kaskadi (2-vaihe)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vaihe: FDH (esim. 1:4)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vaihe: FDT (esim. 1:8)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Yht. 1:32 (4 x 8)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Joustava, laajennettava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840480"/>
            <a:ext cx="111556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50208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Vertailu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Tähti: Yksinkertaisin hallita, yksi vikapiste splitterissä. Paras tiiviille alueelle.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Ketju: Vähiten kuitua pitkillä reiteillä, mutta vaikein optimoida.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Kaskadi: Paras joustavuus — laajennettavissa ilman uutta kuitua. Suosituin uusissa verkoissa.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+ XGS-PON yhteiselo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WDM1r — yhteiselo samalla kuidulla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ja XGS-PON käyttävät eri aallonpituuksia: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DS:  1490 nm (S-band)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US:  1310 nm (O-band)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XGS DS:   1577 nm (L-band)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XGS US:   1270 nm (O-band)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WDM1r CE (Coexistence Element) yhdistää molemmat OLT:t samaan kuituun.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52120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207008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Siirtymästrategia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Asenna WDM1r CE OLT-päähän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Lisää XGS-PON OLT rinnalle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Vaihda ONT:t asiakaskohtaisesti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GPON-ONT:t toimivat koko ajan!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Hyvä: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uutta kaivua tai kuituasennusta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ONT-vaihto on ainoa fy. muutos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Asteittainen siirtymä mahdollinen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29768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4297680"/>
            <a:ext cx="111556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40740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Aallonpituusallokaatio: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7091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XGS 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47091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47091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47091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XGS 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WDM-periaate (Wavelength Division Multiplexing)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5394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Yksi kuitu, monta kanavaa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 = eri aallonpituudet samassa kuidussa samanaikaisesti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(Multiplexer):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Yhdistää useita λ yhdeksi kuiduksi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DEMUX (Demultiplexer):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Erottelee λ takaisin omiin kuituihinsa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Passiivisia komponentteja — ei sähköä!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097280"/>
            <a:ext cx="52120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207008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WDM-teknologiat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(Coarse):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 nm kanavaväli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Max 18 kanavaa (1270–1610 nm)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Edullinen, ei lämpötilansäätöä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DWDM (Dense):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0.8 nm kanavaväli (100 GHz)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40–96+ kanavaa C-bandissa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Kallis, lämpötilansäätö vaaditaan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4114800"/>
            <a:ext cx="111556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224528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 mahdollistaa kuituverkon kapasiteetin moninkertaistamisen ilman uutta kuitua.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CWDM/DWDM-teknologiat käsitellään tarkemmin erillisessä koulutuksessa.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Yhteenveto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3566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Valon fysiikka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Infrapuna 850–1625 nm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Kokonaisheijastus pitää valon kuidussa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9/125 µm = FTTH-standardi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 λ = eri ominaisuudet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097280"/>
            <a:ext cx="356616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207008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Kuituverkko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→ FDH → FDT → ONT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G.652.D + G.657.A1/A2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SC/APC (vihreä) PON-verkkoon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Puhdistus on kriittistä!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097280"/>
            <a:ext cx="33832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207008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 ja suunnittelu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2.5G, XGS-PON 10G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Häviöbudjetti määrää kantaman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Kaskadi = joustavin topologia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WDM = kapasiteetti x 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749040"/>
            <a:ext cx="1115568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58768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Sanasto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= Angled Physical Contact  |  CWDM = Coarse WDM  |  DBA = Dynamic Bandwidth Allocation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= Downstream  |  DWDM = Dense WDM  |  FTTH = Fiber To The Home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FDH = Fiber Distribution Hub  |  FDT = Fiber Distribution Terminal  |  FAT = Fiber Access Terminal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= Gigabit PON  |  ODF = Optical Distribution Frame  |  OLT = Optical Line Terminal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 = Optical Network Terminal  |  OTDR = Optical Time Domain Reflectometer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 = Passive Optical Network  |  SM = Single-Mode  |  TDMA = Time Division Multiple Access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 = Ultra Physical Contact  |  US = Upstream  |  VFL = Visual Fault Locator  |  WDM = Wavelength Division Multiplexing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XGS-PON = 10 Gigabit Symmetric PON  |  λ = aallonpituus (lambda)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Kuituverkon perusteet</dc:title>
  <dc:subject>PptxGenJS Presentation</dc:subject>
  <dc:creator>Janne Kammonen</dc:creator>
  <cp:lastModifiedBy>Janne Kammonen</cp:lastModifiedBy>
  <cp:revision>1</cp:revision>
  <dcterms:created xsi:type="dcterms:W3CDTF">2026-03-22T21:28:32Z</dcterms:created>
  <dcterms:modified xsi:type="dcterms:W3CDTF">2026-03-22T21:28:32Z</dcterms:modified>
</cp:coreProperties>
</file>